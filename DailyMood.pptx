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Berlin Sans FB Demi" panose="020E0802020502020306" pitchFamily="34" charset="0"/>
      <p:bold r:id="rId14"/>
    </p:embeddedFont>
    <p:embeddedFont>
      <p:font typeface="Franklin Gothic Heavy" panose="020B0903020102020204" pitchFamily="34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49E1"/>
    <a:srgbClr val="1B7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D60BA7-8FAA-54FC-57CB-10680C58F5A4}"/>
              </a:ext>
            </a:extLst>
          </p:cNvPr>
          <p:cNvSpPr txBox="1"/>
          <p:nvPr/>
        </p:nvSpPr>
        <p:spPr>
          <a:xfrm>
            <a:off x="4572000" y="1562100"/>
            <a:ext cx="91440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gradFill flip="none" rotWithShape="1"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13800000" scaled="0"/>
                  <a:tileRect/>
                </a:gradFill>
                <a:latin typeface="Berlin Sans FB Demi" panose="020E0802020502020306" pitchFamily="34" charset="0"/>
              </a:rPr>
              <a:t>DailyMood</a:t>
            </a:r>
            <a:endParaRPr lang="ru-RU" sz="11500" b="1" dirty="0">
              <a:gradFill flip="none" rotWithShape="1">
                <a:gsLst>
                  <a:gs pos="0">
                    <a:srgbClr val="B949E1"/>
                  </a:gs>
                  <a:gs pos="74000">
                    <a:schemeClr val="tx2">
                      <a:lumMod val="50000"/>
                    </a:schemeClr>
                  </a:gs>
                  <a:gs pos="83000">
                    <a:srgbClr val="1B7595"/>
                  </a:gs>
                  <a:gs pos="100000">
                    <a:srgbClr val="B949E1"/>
                  </a:gs>
                </a:gsLst>
                <a:lin ang="13800000" scaled="0"/>
                <a:tileRect/>
              </a:gra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6DD848-EAF2-8876-F790-951167D2E15D}"/>
              </a:ext>
            </a:extLst>
          </p:cNvPr>
          <p:cNvSpPr txBox="1"/>
          <p:nvPr/>
        </p:nvSpPr>
        <p:spPr>
          <a:xfrm>
            <a:off x="4267200" y="377190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DailyMood —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простий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інструмент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для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відстеження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настрою й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звичок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. Ми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допомагаємо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помічати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закономірності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та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підтримувати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щоденну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рефлексію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за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допомогою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зручного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інтерфейсу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та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ненав'язливих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 </a:t>
            </a:r>
            <a:r>
              <a:rPr lang="ru-RU" sz="2400" b="1" i="0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нагадувань</a:t>
            </a:r>
            <a:r>
              <a:rPr lang="ru-RU" sz="2400" b="1" i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50000"/>
                      </a:schemeClr>
                    </a:gs>
                    <a:gs pos="83000">
                      <a:srgbClr val="1B7595"/>
                    </a:gs>
                    <a:gs pos="100000">
                      <a:srgbClr val="B949E1"/>
                    </a:gs>
                  </a:gsLst>
                  <a:lin ang="3000000" scaled="0"/>
                </a:gradFill>
                <a:effectLst/>
                <a:latin typeface="ui-sans-serif"/>
              </a:rPr>
              <a:t>.</a:t>
            </a:r>
            <a:endParaRPr lang="ru-RU" sz="2400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50000"/>
                    </a:schemeClr>
                  </a:gs>
                  <a:gs pos="83000">
                    <a:srgbClr val="1B7595"/>
                  </a:gs>
                  <a:gs pos="100000">
                    <a:srgbClr val="B949E1"/>
                  </a:gs>
                </a:gsLst>
                <a:lin ang="3000000" scaled="0"/>
              </a:gra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C055-5CB6-7BBB-940D-CD43D165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4A655C-EBFA-2148-78D1-0F2416092F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  <a:reflection blurRad="76200" stA="45000" endPos="61000" dir="5400000" sy="-100000" algn="bl" rotWithShape="0"/>
            <a:softEdge rad="0"/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3210A-1EE9-632C-CD23-BEF61608B187}"/>
              </a:ext>
            </a:extLst>
          </p:cNvPr>
          <p:cNvSpPr txBox="1"/>
          <p:nvPr/>
        </p:nvSpPr>
        <p:spPr>
          <a:xfrm>
            <a:off x="685800" y="647700"/>
            <a:ext cx="10972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  <a:latin typeface="Franklin Gothic Heavy" panose="020B0903020102020204" pitchFamily="34" charset="0"/>
              </a:rPr>
              <a:t>DailyMood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  <a:latin typeface="Franklin Gothic Heavy" panose="020B0903020102020204" pitchFamily="34" charset="0"/>
              </a:rPr>
              <a:t> —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  <a:latin typeface="Franklin Gothic Heavy" panose="020B0903020102020204" pitchFamily="34" charset="0"/>
              </a:rPr>
              <a:t>інтелектуальний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  <a:latin typeface="Franklin Gothic Heavy" panose="020B0903020102020204" pitchFamily="34" charset="0"/>
              </a:rPr>
              <a:t>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  <a:latin typeface="Franklin Gothic Heavy" panose="020B0903020102020204" pitchFamily="34" charset="0"/>
              </a:rPr>
              <a:t>щоденник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  <a:latin typeface="Franklin Gothic Heavy" panose="020B0903020102020204" pitchFamily="34" charset="0"/>
              </a:rPr>
              <a:t> настрою та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  <a:latin typeface="Franklin Gothic Heavy" panose="020B0903020102020204" pitchFamily="34" charset="0"/>
              </a:rPr>
              <a:t>звичок</a:t>
            </a:r>
            <a:endParaRPr lang="ru-RU" sz="3200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rgbClr val="00B0F0"/>
                  </a:gs>
                  <a:gs pos="100000">
                    <a:srgbClr val="B949E1"/>
                  </a:gs>
                </a:gsLst>
                <a:lin ang="6000000" scaled="0"/>
              </a:gradFill>
              <a:latin typeface="Franklin Gothic Heavy" panose="020B0903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3184E-33F4-4185-FFE8-83BC6B201F9B}"/>
              </a:ext>
            </a:extLst>
          </p:cNvPr>
          <p:cNvSpPr txBox="1"/>
          <p:nvPr/>
        </p:nvSpPr>
        <p:spPr>
          <a:xfrm>
            <a:off x="715297" y="3009900"/>
            <a:ext cx="7391400" cy="2862322"/>
          </a:xfrm>
          <a:prstGeom prst="rect">
            <a:avLst/>
          </a:prstGeom>
          <a:solidFill>
            <a:schemeClr val="tx1">
              <a:alpha val="12000"/>
            </a:scheme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/>
            </a:outerShdw>
            <a:reflection blurRad="76200" stA="45000" endPos="61000" dir="5400000" sy="-100000" algn="bl" rotWithShape="0"/>
            <a:softEdge rad="0"/>
          </a:effectLst>
        </p:spPr>
        <p:txBody>
          <a:bodyPr wrap="square" rtlCol="0">
            <a:spAutoFit/>
          </a:bodyPr>
          <a:lstStyle/>
          <a:p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У </a:t>
            </a:r>
            <a:r>
              <a:rPr lang="uk-UA" b="1" noProof="0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цьому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проєкті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ми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поєднали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простий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і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зручний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інтерфейс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із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практичною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функціональністю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для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щоденного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трекінгу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емоцій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звичок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та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цілей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. Мета —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допомогти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користувачеві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краще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розуміти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свої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патерни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настрою,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формувати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корисні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звички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та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отримувати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персональні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поради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.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Сьогодні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я представлю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архітектуру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ключові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рішення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нові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en-US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Premium-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функції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та покажу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коротку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демонстрацію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роботи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системи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.</a:t>
            </a:r>
          </a:p>
          <a:p>
            <a:b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</a:br>
            <a:endParaRPr lang="ru-RU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rgbClr val="00B0F0"/>
                  </a:gs>
                  <a:gs pos="100000">
                    <a:srgbClr val="B949E1"/>
                  </a:gs>
                </a:gsLst>
                <a:lin ang="6000000" scaled="0"/>
              </a:gradFill>
            </a:endParaRPr>
          </a:p>
          <a:p>
            <a:endParaRPr lang="ru-RU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rgbClr val="00B0F0"/>
                  </a:gs>
                  <a:gs pos="100000">
                    <a:srgbClr val="B949E1"/>
                  </a:gs>
                </a:gsLst>
                <a:lin ang="6000000" scaled="0"/>
              </a:gradFill>
            </a:endParaRPr>
          </a:p>
          <a:p>
            <a:endParaRPr lang="ru-RU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rgbClr val="00B0F0"/>
                  </a:gs>
                  <a:gs pos="100000">
                    <a:srgbClr val="B949E1"/>
                  </a:gs>
                </a:gsLst>
                <a:lin ang="6000000" scaled="0"/>
              </a:gra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A9810-A4E0-561B-AB7B-6727948CC5E5}"/>
              </a:ext>
            </a:extLst>
          </p:cNvPr>
          <p:cNvSpPr txBox="1"/>
          <p:nvPr/>
        </p:nvSpPr>
        <p:spPr>
          <a:xfrm>
            <a:off x="10240299" y="3009900"/>
            <a:ext cx="7391400" cy="2862322"/>
          </a:xfrm>
          <a:prstGeom prst="rect">
            <a:avLst/>
          </a:prstGeom>
          <a:solidFill>
            <a:schemeClr val="tx1">
              <a:alpha val="12000"/>
            </a:scheme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/>
            </a:outerShdw>
            <a:reflection blurRad="76200" stA="45000" endPos="61000" dir="5400000" sy="-100000" algn="bl" rotWithShape="0"/>
            <a:softEdge rad="0"/>
          </a:effectLst>
        </p:spPr>
        <p:txBody>
          <a:bodyPr wrap="square" rtlCol="0">
            <a:spAutoFit/>
          </a:bodyPr>
          <a:lstStyle/>
          <a:p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Багато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людей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ведуть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щоденник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або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пробують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формувати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звички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але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звичні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інструменти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або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надто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складні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або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неорганізовані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. В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результаті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користувачі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кидають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ведення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записів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не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отримуючи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корисних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інсайтів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. Проблема також у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відсутності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інструментів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які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поєднують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щоденний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журнал,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трекінг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звичок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управління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цілями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та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можливість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отримати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додаткові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аналітичні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функції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(</a:t>
            </a:r>
            <a:r>
              <a:rPr lang="en-US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Premium) 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у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єдиному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інтерфейсі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. Наше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рішення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—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простий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, легкий у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використанні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веб-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додаток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з набором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інструментів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для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щоденного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використання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і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розширеними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функціями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для </a:t>
            </a:r>
            <a:r>
              <a:rPr lang="ru-RU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підписників</a:t>
            </a:r>
            <a:r>
              <a:rPr lang="ru-RU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 </a:t>
            </a:r>
            <a:r>
              <a:rPr lang="en-US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rgbClr val="00B0F0"/>
                    </a:gs>
                    <a:gs pos="100000">
                      <a:srgbClr val="B949E1"/>
                    </a:gs>
                  </a:gsLst>
                  <a:lin ang="6000000" scaled="0"/>
                </a:gradFill>
              </a:rPr>
              <a:t>Premium.</a:t>
            </a:r>
            <a:endParaRPr lang="ru-RU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rgbClr val="00B0F0"/>
                  </a:gs>
                  <a:gs pos="100000">
                    <a:srgbClr val="B949E1"/>
                  </a:gs>
                </a:gsLst>
                <a:lin ang="6000000" scaled="0"/>
              </a:gradFill>
            </a:endParaRPr>
          </a:p>
          <a:p>
            <a:endParaRPr lang="ru-RU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rgbClr val="00B0F0"/>
                  </a:gs>
                  <a:gs pos="100000">
                    <a:srgbClr val="B949E1"/>
                  </a:gs>
                </a:gsLst>
                <a:lin ang="60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0017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7AA5-6EF5-0AE8-1FAD-9E5B8431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A2820E-5793-8A08-B028-831D9E7B30B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25C3A-BC02-1E3D-4D8F-6EB43FE21B5B}"/>
              </a:ext>
            </a:extLst>
          </p:cNvPr>
          <p:cNvSpPr txBox="1"/>
          <p:nvPr/>
        </p:nvSpPr>
        <p:spPr>
          <a:xfrm>
            <a:off x="914400" y="495300"/>
            <a:ext cx="6324600" cy="523220"/>
          </a:xfrm>
          <a:prstGeom prst="rect">
            <a:avLst/>
          </a:prstGeom>
          <a:solidFill>
            <a:schemeClr val="tx1">
              <a:alpha val="23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gradFill flip="none" rotWithShape="1"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Опис</a:t>
            </a:r>
            <a:r>
              <a:rPr lang="ru-RU" sz="2800" b="1" dirty="0">
                <a:gradFill flip="none" rotWithShape="1"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 API та </a:t>
            </a:r>
            <a:r>
              <a:rPr lang="ru-RU" sz="2800" b="1" dirty="0" err="1">
                <a:gradFill flip="none" rotWithShape="1"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використовувані</a:t>
            </a:r>
            <a:r>
              <a:rPr lang="ru-RU" sz="2800" b="1" dirty="0">
                <a:gradFill flip="none" rotWithShape="1"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 </a:t>
            </a:r>
            <a:r>
              <a:rPr lang="ru-RU" sz="2800" b="1" dirty="0" err="1">
                <a:gradFill flip="none" rotWithShape="1"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технології</a:t>
            </a:r>
            <a:endParaRPr lang="ru-RU" sz="2800" dirty="0">
              <a:gradFill flip="none" rotWithShape="1"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B746C-A252-CC3D-B86F-84E542F225A3}"/>
              </a:ext>
            </a:extLst>
          </p:cNvPr>
          <p:cNvSpPr txBox="1"/>
          <p:nvPr/>
        </p:nvSpPr>
        <p:spPr>
          <a:xfrm>
            <a:off x="152400" y="1493520"/>
            <a:ext cx="17754600" cy="8094524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##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Опис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та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використовувані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технології</a:t>
            </a: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Нижче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коротко описано структуру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REST API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проєкту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основні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технології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,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які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ми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використовуємо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для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валідації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,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документування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і продакшн-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розгортання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b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</a:b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Стиль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API: RESTful,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організовано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за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Blueprints /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модульними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роутами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у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Flask.</a:t>
            </a:r>
          </a:p>
          <a:p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Аутентифікація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: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сесійні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cookie (`session['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user_id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']`)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через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Flask-Session` (filesystem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dev, Redis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prod).</a:t>
            </a:r>
          </a:p>
          <a:p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Основні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endpoint'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и (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приклади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):</a:t>
            </a: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    -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GET /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/me` —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повертає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інформацію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про поточного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користувача</a:t>
            </a: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    -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GET/POST /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/habits` —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список /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створення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звичок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(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фільтрація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по `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user_id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`)</a:t>
            </a:r>
          </a:p>
          <a:p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    - `GET/POST /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/goals` —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робота з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місячними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цілями</a:t>
            </a: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    -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GET /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/products` —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товари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магазину</a:t>
            </a: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    -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POST /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/premium/initiate` —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ініціює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створення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Order`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Premium</a:t>
            </a:r>
          </a:p>
          <a:p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    - `GET /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checkout?order_id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=...` —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сторінка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оплати/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чекаута</a:t>
            </a: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    -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POST /webhook/payment` — webhook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від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платіжного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провайдера для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підтвердження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транзакцій</a:t>
            </a: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b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</a:b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Валідація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і (де)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серіалізація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: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Marshmallow` —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схеми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описують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поля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запитів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/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відповідей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,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валідацію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серіалізацію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моделей.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Приклади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схем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використовуються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у контролерах для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валідації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payload.</a:t>
            </a:r>
          </a:p>
          <a:p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Документація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API: `Swagger` / `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Flasgger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або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flask-swagger-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ui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 —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автоматично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генерує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інтерактивну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документацію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(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зазвичай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доступну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за `/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apidocs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або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`/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swagger`).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Це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дозволяє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демонструвати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підключення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endpoint'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ів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і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пробний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виклик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під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час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презентації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ORM: `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SQLAlchemy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для моделей,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транзакцій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зв'язків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(`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User`, `Order`, `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OrderItem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`, `Payment`, `Habit`, `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MonthlyGoal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`).</a:t>
            </a:r>
          </a:p>
          <a:p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Міграції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: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Alembic` (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рекомендовано)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або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прості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ALTER TABLE`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рантаймі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для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dev (SQLite) —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у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продакшні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використовувати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керовані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міграції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Серверна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інфраструктура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у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проді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: `</a:t>
            </a:r>
            <a:r>
              <a:rPr lang="en-US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Gunicorn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` (WSGI) + `Nginx` (reverse proxy, SSL, static files)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або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контейнер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із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Docker;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сесії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у 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Redis; DB — PostgreSQL.</a:t>
            </a:r>
          </a:p>
          <a:p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-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Асинхронні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завдання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(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опційно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): `</a:t>
            </a:r>
            <a:r>
              <a:rPr lang="en-US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Celery` + `Redis`/`RabbitMQ` 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фонових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робіт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(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наприклад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,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агрегація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аналітики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,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розсилка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000" b="1" dirty="0" err="1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повідомлень</a:t>
            </a:r>
            <a: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).</a:t>
            </a:r>
          </a:p>
          <a:p>
            <a:br>
              <a:rPr lang="ru-RU" sz="2000" b="1" dirty="0">
                <a:gradFill>
                  <a:gsLst>
                    <a:gs pos="0">
                      <a:srgbClr val="7030A0"/>
                    </a:gs>
                    <a:gs pos="74000">
                      <a:srgbClr val="B949E1"/>
                    </a:gs>
                    <a:gs pos="83000">
                      <a:schemeClr val="accent5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</a:br>
            <a:endParaRPr lang="ru-RU" sz="2000" b="1" dirty="0">
              <a:gradFill>
                <a:gsLst>
                  <a:gs pos="0">
                    <a:srgbClr val="7030A0"/>
                  </a:gs>
                  <a:gs pos="74000">
                    <a:srgbClr val="B949E1"/>
                  </a:gs>
                  <a:gs pos="83000">
                    <a:schemeClr val="accent5">
                      <a:lumMod val="5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87954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A8BA-4BCD-25A8-989A-2FEF9E7E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270809-C41C-38DB-B7CA-9D4C0484FA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068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2C56B-0498-B0A4-600A-DAB4BAC6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CD4A2A-7706-DD4B-42FC-BF4195874C3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74460-D320-886A-CBA8-75BD51C5ECA5}"/>
              </a:ext>
            </a:extLst>
          </p:cNvPr>
          <p:cNvSpPr txBox="1"/>
          <p:nvPr/>
        </p:nvSpPr>
        <p:spPr>
          <a:xfrm>
            <a:off x="1066800" y="723900"/>
            <a:ext cx="4191000" cy="523220"/>
          </a:xfrm>
          <a:prstGeom prst="rect">
            <a:avLst/>
          </a:prstGeom>
          <a:solidFill>
            <a:schemeClr val="tx1">
              <a:alpha val="2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DailyMood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надає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71AFD-5E30-FE27-978F-5694E9CC762E}"/>
              </a:ext>
            </a:extLst>
          </p:cNvPr>
          <p:cNvSpPr txBox="1"/>
          <p:nvPr/>
        </p:nvSpPr>
        <p:spPr>
          <a:xfrm>
            <a:off x="1066800" y="1909916"/>
            <a:ext cx="3886200" cy="923330"/>
          </a:xfrm>
          <a:prstGeom prst="rect">
            <a:avLst/>
          </a:prstGeom>
          <a:solidFill>
            <a:schemeClr val="tx1">
              <a:alpha val="22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1)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щоденний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 журнал з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швидким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введенням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 настрою та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нотаток</a:t>
            </a:r>
            <a:r>
              <a:rPr lang="en-US" b="1" dirty="0">
                <a:gradFill>
                  <a:gsLst>
                    <a:gs pos="0">
                      <a:srgbClr val="B949E1"/>
                    </a:gs>
                    <a:gs pos="74000">
                      <a:schemeClr val="tx2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7800000" scaled="0"/>
                </a:gradFill>
              </a:rPr>
              <a:t>:</a:t>
            </a:r>
            <a:endParaRPr lang="ru-RU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chemeClr val="accent4"/>
                  </a:gs>
                </a:gsLst>
                <a:lin ang="7800000" scaled="0"/>
              </a:gradFill>
            </a:endParaRPr>
          </a:p>
          <a:p>
            <a:endParaRPr lang="ru-RU" b="1" dirty="0">
              <a:gradFill>
                <a:gsLst>
                  <a:gs pos="0">
                    <a:srgbClr val="B949E1"/>
                  </a:gs>
                  <a:gs pos="74000">
                    <a:schemeClr val="tx2">
                      <a:lumMod val="60000"/>
                      <a:lumOff val="40000"/>
                    </a:schemeClr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chemeClr val="accent4"/>
                  </a:gs>
                </a:gsLst>
                <a:lin ang="7800000" scaled="0"/>
              </a:gradFill>
            </a:endParaRPr>
          </a:p>
        </p:txBody>
      </p:sp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51B040AB-68DE-728A-A461-6E4266F43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247120"/>
            <a:ext cx="10631384" cy="8116433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rgbClr val="000000">
                <a:alpha val="43137"/>
              </a:srgbClr>
            </a:outerShdw>
            <a:reflection stA="14000" endPos="88000" dist="508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2D7D5B-DCF0-9BE4-CE0D-142BC95EB5CD}"/>
              </a:ext>
            </a:extLst>
          </p:cNvPr>
          <p:cNvSpPr txBox="1"/>
          <p:nvPr/>
        </p:nvSpPr>
        <p:spPr>
          <a:xfrm>
            <a:off x="1066800" y="2293706"/>
            <a:ext cx="3886200" cy="369332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>
                <a:gradFill flip="none" rotWithShape="1"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2) модуль </a:t>
            </a:r>
            <a:r>
              <a:rPr lang="ru-RU" dirty="0" err="1">
                <a:gradFill flip="none" rotWithShape="1"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звичок</a:t>
            </a:r>
            <a:endParaRPr lang="ru-RU" dirty="0">
              <a:gradFill flip="none" rotWithShape="1"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  <p:pic>
        <p:nvPicPr>
          <p:cNvPr id="10" name="Рисунок 9" descr="Изображение выглядит как электроника, текст, снимок экрана, компьютер">
            <a:extLst>
              <a:ext uri="{FF2B5EF4-FFF2-40B4-BE49-F238E27FC236}">
                <a16:creationId xmlns:a16="http://schemas.microsoft.com/office/drawing/2014/main" id="{4D3F4758-0393-AF7B-CEE6-B58FB74EB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268015"/>
            <a:ext cx="10999843" cy="79902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24824A-18A9-B0BF-B7DB-41F821F71848}"/>
              </a:ext>
            </a:extLst>
          </p:cNvPr>
          <p:cNvSpPr txBox="1"/>
          <p:nvPr/>
        </p:nvSpPr>
        <p:spPr>
          <a:xfrm>
            <a:off x="1066800" y="2333179"/>
            <a:ext cx="3886200" cy="369332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3)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місячні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цілі</a:t>
            </a:r>
            <a:r>
              <a:rPr lang="ru-RU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з дедлайнами;</a:t>
            </a:r>
          </a:p>
        </p:txBody>
      </p:sp>
      <p:pic>
        <p:nvPicPr>
          <p:cNvPr id="18" name="Рисунок 17" descr="Изображение выглядит как текст, снимок экрана, компьютер, программное обеспечение">
            <a:extLst>
              <a:ext uri="{FF2B5EF4-FFF2-40B4-BE49-F238E27FC236}">
                <a16:creationId xmlns:a16="http://schemas.microsoft.com/office/drawing/2014/main" id="{6986BE06-EB88-B6A5-39B5-62EC4DAC8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570" y="1271479"/>
            <a:ext cx="10999843" cy="788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9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" presetClass="exit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1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1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  <p:bldP spid="8" grpId="1" animBg="1"/>
      <p:bldP spid="12" grpId="0" animBg="1"/>
      <p:bldP spid="1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91DB-D6CF-7171-FCF7-881D5816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AC96C4-421A-3D8F-6786-BE5E413AF85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A2900-4C34-B4DD-551B-6236D27B04FE}"/>
              </a:ext>
            </a:extLst>
          </p:cNvPr>
          <p:cNvSpPr txBox="1"/>
          <p:nvPr/>
        </p:nvSpPr>
        <p:spPr>
          <a:xfrm>
            <a:off x="560879" y="750342"/>
            <a:ext cx="5486400" cy="707886"/>
          </a:xfrm>
          <a:prstGeom prst="rect">
            <a:avLst/>
          </a:prstGeom>
          <a:solidFill>
            <a:schemeClr val="tx1">
              <a:alpha val="17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Магазин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DF590-4545-51AC-3E0B-402638FDD20A}"/>
              </a:ext>
            </a:extLst>
          </p:cNvPr>
          <p:cNvSpPr txBox="1"/>
          <p:nvPr/>
        </p:nvSpPr>
        <p:spPr>
          <a:xfrm>
            <a:off x="560879" y="2171700"/>
            <a:ext cx="5105400" cy="830997"/>
          </a:xfrm>
          <a:prstGeom prst="rect">
            <a:avLst/>
          </a:prstGeom>
          <a:solidFill>
            <a:schemeClr val="tx1">
              <a:alpha val="23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 маг</a:t>
            </a:r>
            <a:r>
              <a:rPr lang="uk-UA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азині</a:t>
            </a:r>
            <a: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ви можете придбати преміум:</a:t>
            </a:r>
            <a:endParaRPr lang="ru-RU" sz="24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2C41CBC7-0D2E-76C0-585C-D3ED008B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31" y="1866900"/>
            <a:ext cx="11708016" cy="7087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202987-3B89-7CD3-8E72-4CB68EB316F8}"/>
              </a:ext>
            </a:extLst>
          </p:cNvPr>
          <p:cNvSpPr txBox="1"/>
          <p:nvPr/>
        </p:nvSpPr>
        <p:spPr>
          <a:xfrm>
            <a:off x="560879" y="3795122"/>
            <a:ext cx="5105400" cy="4524315"/>
          </a:xfrm>
          <a:prstGeom prst="rect">
            <a:avLst/>
          </a:prstGeom>
          <a:solidFill>
            <a:schemeClr val="tx1">
              <a:alpha val="23000"/>
            </a:schemeClr>
          </a:solidFill>
        </p:spPr>
        <p:txBody>
          <a:bodyPr wrap="square" rtlCol="0">
            <a:spAutoFit/>
          </a:bodyPr>
          <a:lstStyle/>
          <a:p>
            <a: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Преміум розблокує такі функції як:</a:t>
            </a: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Розширений вибір </a:t>
            </a:r>
            <a:r>
              <a:rPr lang="uk-UA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аватарок</a:t>
            </a:r>
            <a: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в профілі.</a:t>
            </a: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r>
              <a:rPr lang="uk-UA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Розширенна</a:t>
            </a:r>
            <a: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uk-UA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кастомізація</a:t>
            </a:r>
            <a: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сайту.</a:t>
            </a: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r>
              <a:rPr lang="uk-UA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Розширенна</a:t>
            </a:r>
            <a: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статистика записів сну.</a:t>
            </a: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r>
              <a:rPr lang="ru-RU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Персоналізовані</a:t>
            </a:r>
            <a:r>
              <a:rPr lang="ru-RU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поради</a:t>
            </a:r>
            <a:r>
              <a:rPr lang="ru-RU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активностей на </a:t>
            </a:r>
            <a:r>
              <a:rPr lang="ru-RU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основі</a:t>
            </a:r>
            <a:r>
              <a:rPr lang="ru-RU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4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твого</a:t>
            </a:r>
            <a:r>
              <a:rPr lang="ru-RU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настрою</a:t>
            </a:r>
            <a:br>
              <a:rPr lang="uk-UA" sz="24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</a:br>
            <a:endParaRPr lang="ru-RU" sz="24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  <p:pic>
        <p:nvPicPr>
          <p:cNvPr id="9" name="Рисунок 8" descr="Изображение выглядит как текст, снимок экрана, программное обеспечение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A4E2E3-84F4-5C52-A5B4-8535B2DAF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194" y="1056704"/>
            <a:ext cx="7030431" cy="8173591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B9C98F-5345-9FC5-309B-AB8E9EF18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0" y="1056704"/>
            <a:ext cx="5649113" cy="8430802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6E05CC-3E06-7DD5-862F-A031038D6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506792"/>
            <a:ext cx="8143989" cy="6812645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1908E6-2B13-E37D-0DE4-3561D54B97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872" y="838119"/>
            <a:ext cx="8092344" cy="861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214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FF1D-FF8F-0AE6-9F72-1B6B7F64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8740EC-4578-0BDA-83D6-660AEF6FCE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1C13B4-084E-477E-6158-8F5CEB7BD1CB}"/>
              </a:ext>
            </a:extLst>
          </p:cNvPr>
          <p:cNvSpPr txBox="1"/>
          <p:nvPr/>
        </p:nvSpPr>
        <p:spPr>
          <a:xfrm>
            <a:off x="1066800" y="571500"/>
            <a:ext cx="4343400" cy="58477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Технологічний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стек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D79B4-0D06-4F5C-4296-4C4D249DE818}"/>
              </a:ext>
            </a:extLst>
          </p:cNvPr>
          <p:cNvSpPr txBox="1"/>
          <p:nvPr/>
        </p:nvSpPr>
        <p:spPr>
          <a:xfrm>
            <a:off x="2133600" y="2476500"/>
            <a:ext cx="14020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Backend: Python + Flask.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Ми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обрали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Flask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через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його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простоту,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гнучкість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і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швидкість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розробки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прототипів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ORM: </a:t>
            </a:r>
            <a:r>
              <a:rPr lang="en-US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SQLAlchemy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роботи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з моделями та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транзакціями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DB: SQLite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локальної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розробки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PostgreSQL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у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продакшені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—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конфігурація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змінюється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через `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DATABASE_URL`.</a:t>
            </a:r>
          </a:p>
          <a:p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Сесії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: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Flask-Session (filesystem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dev; Redis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у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production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масштабування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).</a:t>
            </a:r>
          </a:p>
          <a:p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Валідація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API: Marshmallow (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валидація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),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Swagger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документації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Frontend: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чистий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HTML/CSS/JS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з шаблонами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Jinja2;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опціонально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Tailwind 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девелопменті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для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швидкого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стилінгу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endParaRPr lang="ru-RU" sz="32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5080524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16C69-A589-22AB-2218-ABD632A5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6BA6FB-F3FB-BBE4-0E3E-53194C0F15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3E3B0-F8F3-04A0-B039-728806630624}"/>
              </a:ext>
            </a:extLst>
          </p:cNvPr>
          <p:cNvSpPr txBox="1"/>
          <p:nvPr/>
        </p:nvSpPr>
        <p:spPr>
          <a:xfrm>
            <a:off x="914400" y="647700"/>
            <a:ext cx="4191000" cy="584775"/>
          </a:xfrm>
          <a:prstGeom prst="rect">
            <a:avLst/>
          </a:prstGeom>
          <a:solidFill>
            <a:schemeClr val="tx1">
              <a:alpha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Архітектура</a:t>
            </a:r>
            <a:r>
              <a:rPr lang="ru-RU" sz="32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32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системи</a:t>
            </a:r>
            <a:endParaRPr lang="ru-RU" sz="32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F12B6D-9F47-4905-1906-DB5383CE4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232475"/>
            <a:ext cx="7620000" cy="82626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94121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D786-78F6-99AD-88A2-00CFDC99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E70BD8-D4FC-8AB8-0DB7-AFC171F4CE5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86447-2D4B-5958-2C24-5296E79FDDAF}"/>
              </a:ext>
            </a:extLst>
          </p:cNvPr>
          <p:cNvSpPr txBox="1"/>
          <p:nvPr/>
        </p:nvSpPr>
        <p:spPr>
          <a:xfrm>
            <a:off x="3276600" y="2705100"/>
            <a:ext cx="11353800" cy="5262979"/>
          </a:xfrm>
          <a:prstGeom prst="rect">
            <a:avLst/>
          </a:prstGeom>
          <a:solidFill>
            <a:schemeClr val="tx1">
              <a:alpha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Технічні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виклики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рішення</a:t>
            </a:r>
            <a:endParaRPr lang="ru-RU" sz="28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1)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Сумісність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схем БД у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dev (SQLite) 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та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prod (Postgres) —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тимчасове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рішення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: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невеликі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ALTER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запити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при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старті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для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додавання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`</a:t>
            </a:r>
            <a:r>
              <a:rPr lang="en-US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user_id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` 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і колонок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premium;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довгострокове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рішення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: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викорис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тання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Alembic 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для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керованих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міграцій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2)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Сесії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безпека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cookie —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встановили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sensible defaults (`SESSION_COOKIE_SECURE`, `SAMESITE`) 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і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рекомендуємо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Redis 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у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production.</a:t>
            </a:r>
          </a:p>
          <a:p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3)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Асинхронні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/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тривалі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операції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(оплата,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зовнішні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API) —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відокремлювати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логіку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платежів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у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транзакції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замовлення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та платежу,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мати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ідемпотентність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і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логування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.</a:t>
            </a:r>
          </a:p>
          <a:p>
            <a:endParaRPr lang="ru-RU" sz="28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D6CAE8-BBD8-16D2-7074-DCDA742CEF1C}"/>
              </a:ext>
            </a:extLst>
          </p:cNvPr>
          <p:cNvSpPr txBox="1"/>
          <p:nvPr/>
        </p:nvSpPr>
        <p:spPr>
          <a:xfrm>
            <a:off x="6667500" y="638830"/>
            <a:ext cx="4953000" cy="523220"/>
          </a:xfrm>
          <a:prstGeom prst="rect">
            <a:avLst/>
          </a:prstGeom>
          <a:solidFill>
            <a:schemeClr val="tx1">
              <a:alpha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Технічні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виклики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та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рішення</a:t>
            </a:r>
            <a:endParaRPr lang="ru-RU" sz="28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81306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2CE7-1D5D-7736-4B36-84218C9B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4CC1EB-B6F7-761B-F5EF-ECC569C61D2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A5656-C676-007F-CED3-3411BCE8BF9C}"/>
              </a:ext>
            </a:extLst>
          </p:cNvPr>
          <p:cNvSpPr txBox="1"/>
          <p:nvPr/>
        </p:nvSpPr>
        <p:spPr>
          <a:xfrm>
            <a:off x="838200" y="419100"/>
            <a:ext cx="7086600" cy="954107"/>
          </a:xfrm>
          <a:prstGeom prst="rect">
            <a:avLst/>
          </a:prstGeom>
          <a:solidFill>
            <a:schemeClr val="tx1">
              <a:alpha val="31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Приклади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коду для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ключових</a:t>
            </a:r>
            <a:r>
              <a:rPr lang="ru-RU" sz="2800" b="1" dirty="0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ru-RU" sz="2800" b="1" dirty="0" err="1">
                <a:gradFill>
                  <a:gsLst>
                    <a:gs pos="0">
                      <a:srgbClr val="B949E1"/>
                    </a:gs>
                    <a:gs pos="74000">
                      <a:srgbClr val="7030A0"/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rgbClr val="00B0F0"/>
                    </a:gs>
                  </a:gsLst>
                  <a:path path="circle">
                    <a:fillToRect l="100000" t="100000"/>
                  </a:path>
                </a:gradFill>
              </a:rPr>
              <a:t>рішень</a:t>
            </a:r>
            <a:endParaRPr lang="ru-RU" sz="2800" b="1" dirty="0">
              <a:gradFill>
                <a:gsLst>
                  <a:gs pos="0">
                    <a:srgbClr val="B949E1"/>
                  </a:gs>
                  <a:gs pos="74000">
                    <a:srgbClr val="7030A0"/>
                  </a:gs>
                  <a:gs pos="83000">
                    <a:schemeClr val="accent5">
                      <a:lumMod val="75000"/>
                    </a:schemeClr>
                  </a:gs>
                  <a:gs pos="100000">
                    <a:srgbClr val="00B0F0"/>
                  </a:gs>
                </a:gsLst>
                <a:path path="circle">
                  <a:fillToRect l="100000" t="100000"/>
                </a:path>
              </a:gradFill>
            </a:endParaRPr>
          </a:p>
          <a:p>
            <a:endParaRPr lang="ru-RU" sz="2800" b="1" dirty="0"/>
          </a:p>
        </p:txBody>
      </p:sp>
      <p:pic>
        <p:nvPicPr>
          <p:cNvPr id="12" name="Рисунок 11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721EE8-44C6-2308-B361-E7E5314D9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96559"/>
            <a:ext cx="8534400" cy="802715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9F87B7-5426-CBE6-71E0-ED05DE0F0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1396559"/>
            <a:ext cx="7788849" cy="802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5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7B3C-2C2E-6469-3B1A-6216B4162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BA72D6-1616-07C9-AC18-84BD98447B4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183FB1-5C6E-C1E3-9C75-B1ABA60C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417714"/>
            <a:ext cx="6858000" cy="94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1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E50C-A7C4-8F4B-2714-085CFB0E1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A346DB-0CA9-8C3C-3B72-FFFDF50C76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71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856</Words>
  <Application>Microsoft Office PowerPoint</Application>
  <PresentationFormat>Произвольный</PresentationFormat>
  <Paragraphs>49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Arial</vt:lpstr>
      <vt:lpstr>Berlin Sans FB Demi</vt:lpstr>
      <vt:lpstr>ui-sans-serif</vt:lpstr>
      <vt:lpstr>Franklin Gothic Heavy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Artificial Intelligence Presentation</dc:title>
  <dc:creator>Ярослав Мерчук</dc:creator>
  <cp:lastModifiedBy>Ярослав Мерчук</cp:lastModifiedBy>
  <cp:revision>3</cp:revision>
  <dcterms:created xsi:type="dcterms:W3CDTF">2006-08-16T00:00:00Z</dcterms:created>
  <dcterms:modified xsi:type="dcterms:W3CDTF">2025-12-17T17:39:34Z</dcterms:modified>
  <dc:identifier>DAG7scirLTY</dc:identifier>
</cp:coreProperties>
</file>